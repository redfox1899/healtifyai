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Lead with the killer differentiator quote: Show me. Pause for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in three dimensions: neurological (ADHD), behavioral (lying to apps), and UX (reminder fatigue). This sets up why a verification-first app is necessary.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Show Me mechanic. No other hydration app does photo verification. This is the core moat.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Stack: Flutter + Firebase + Gemini + RevenueCat. LangGraph manages the multi-step AI agent conversation. Claude Code is used as the dev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features are the moat. ADHD users are chronically underserved by generic reminder apps. Adaptive timing + accountability scoring are patentable differentiators.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tier captures users, Premium captures revenue. Target 5-10% free-to-paid conversion. $4.99/month is impulse-buy pricing for a habit that users KNOW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Hydration is Habit #1. The real business is HabitPilot — a platform for all ADHD-friendly habit accountability. This is the strategic expansion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vision slide. The pitch: Water is the beachhead. The real product is an AI accountability coach for the 40M+ adults with ADHD who need this. That is the subscription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30352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315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554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HydrateAI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320040" y="2514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Accountability Coach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ADHD &amp; Fitness Users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2004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Product Overview · Android First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0" y="1371600"/>
            <a:ext cx="3108960" cy="2011680"/>
          </a:xfrm>
          <a:prstGeom prst="rect">
            <a:avLst/>
          </a:prstGeom>
          <a:solidFill>
            <a:srgbClr val="00B4D8">
              <a:alpha val="12000"/>
            </a:srgbClr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1508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"Show me."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760720" y="21031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apps ask if you drank water.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HydrateAI asks for proof.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651760" cy="37490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0058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ADHD &amp; Distraction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0352" y="219456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40M+ adults with ADHD forget basic habits not because they don't care — but because their brains work differently.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0" y="822960"/>
            <a:ext cx="2651760" cy="37490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00584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756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You Can Lie To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364992" y="219456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hydration app lets you tap 'Yes, I drank.' Zero verification. Zero accountability. Zero results.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035040" y="822960"/>
            <a:ext cx="2651760" cy="37490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00584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7220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Fatigue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199632" y="219456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3-hour reminders get snoozed. Generic push notifications get ignored. Users quit in week 1.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HydrateAI Core Loop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Check-in  —  App messages you every few hours — feels like a coach, not a tracker.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" y="1709928"/>
            <a:ext cx="0" cy="356616"/>
          </a:xfrm>
          <a:prstGeom prst="line">
            <a:avLst/>
          </a:prstGeom>
          <a:noFill/>
          <a:ln w="19050">
            <a:solidFill>
              <a:srgbClr val="0077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039112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057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Respond  —  Send photo, text, or voice note showing your drink.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" y="2395728"/>
            <a:ext cx="0" cy="356616"/>
          </a:xfrm>
          <a:prstGeom prst="line">
            <a:avLst/>
          </a:prstGeom>
          <a:noFill/>
          <a:ln w="19050">
            <a:solidFill>
              <a:srgbClr val="0077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724912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Verifies  —  Gemini Vision estimates container, volume, % consumed.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" y="3081528"/>
            <a:ext cx="0" cy="356616"/>
          </a:xfrm>
          <a:prstGeom prst="line">
            <a:avLst/>
          </a:prstGeom>
          <a:noFill/>
          <a:ln w="19050">
            <a:solidFill>
              <a:srgbClr val="0077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410712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410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429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Updated  —  Progress syncs instantly. Gamified score improves.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" y="3767328"/>
            <a:ext cx="0" cy="356616"/>
          </a:xfrm>
          <a:prstGeom prst="line">
            <a:avLst/>
          </a:prstGeom>
          <a:noFill/>
          <a:ln w="19050">
            <a:solidFill>
              <a:srgbClr val="0077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4096512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096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41148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 —  AI notes patterns and shifts reminder timing to match your life.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20640" y="77724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1B2E4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914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Killer Feature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57800" y="1325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Photo Verification</a:t>
            </a:r>
            <a:endParaRPr lang="en-US" sz="19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828800"/>
            <a:ext cx="502920" cy="50292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257800" y="182880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a 32oz bottle.
</a:t>
            </a:r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~75% consumed.
</a:t>
            </a:r>
            <a:pPr indent="0" marL="0">
              <a:buNone/>
            </a:pPr>
            <a:r>
              <a:rPr lang="en-US" sz="14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24 oz. ✓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257800" y="288036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 API identifies container type, estimates volume, tracks your personal bottles over time.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868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Android App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• Push notifications • Camera • Messaging chat interface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E8A500"/>
          </a:solidFill>
          <a:ln w="12700">
            <a:solidFill>
              <a:srgbClr val="E8A5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Backend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16712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• Firestore DB • Cloud Functions • FCM push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74320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APIs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312724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(photo verification) • LangGraph agent • Adaptive reminders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70332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RevenueCat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40873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management • Free ↔ Premium upgrade flow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 → Android (iOS later) · Claude Code orchestrates all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ADHD-FIRST DIFFERENTIATORS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B2E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0241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Reminders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0352" y="15087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tracks when you ignore reminders and auto-shifts timing. 3 ignored mornings = asks if you want 10 AM check-ins instead.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00600" y="82296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B2E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515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13832" y="10241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Psychology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965192" y="15087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streak break is psychologically powerful. Not just a number — a consequence. Loss aversion drives re-engagement.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65760" y="292608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B2E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5468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31272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 Personality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30352" y="3611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feel like a coach not a tracker. AI remembers your history, references yesterday's miss, celebrates wins.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00600" y="292608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B2E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5468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13832" y="31272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ADHD Reliability Score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965192" y="3611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response rate, completion %, streak consistency. Gives users a number to improve — gamification without childish badges.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931920" cy="402336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B0C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/ month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7452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847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water logging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7744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3500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daily reminders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88036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2852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goal tracking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383280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33558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streak counter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4846320" y="777240"/>
            <a:ext cx="3931920" cy="4023360"/>
          </a:xfrm>
          <a:prstGeom prst="roundRect">
            <a:avLst>
              <a:gd name="adj" fmla="val 3488"/>
            </a:avLst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685800"/>
            <a:ext cx="548640" cy="5486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8348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2800" dirty="0"/>
          </a:p>
        </p:txBody>
      </p:sp>
      <p:sp>
        <p:nvSpPr>
          <p:cNvPr id="18" name="Text 11"/>
          <p:cNvSpPr/>
          <p:nvPr/>
        </p:nvSpPr>
        <p:spPr>
          <a:xfrm>
            <a:off x="49834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$4.99 / month</a:t>
            </a:r>
            <a:endParaRPr lang="en-US" sz="14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1874520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394960" y="1847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photo verification</a:t>
            </a:r>
            <a:endParaRPr lang="en-US" sz="13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359152"/>
            <a:ext cx="256032" cy="25603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394960" y="2331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 check-ins</a:t>
            </a:r>
            <a:endParaRPr lang="en-US" sz="13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2843784"/>
            <a:ext cx="256032" cy="25603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394960" y="28163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adaptive reminders</a:t>
            </a:r>
            <a:endParaRPr lang="en-US" sz="13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3328416"/>
            <a:ext cx="256032" cy="256032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394960" y="33009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3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3813048"/>
            <a:ext cx="256032" cy="256032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394960" y="37856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insights</a:t>
            </a:r>
            <a:endParaRPr lang="en-US" sz="130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4297680"/>
            <a:ext cx="256032" cy="256032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5394960" y="42702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Message-based coaching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SCALABILITY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697480" cy="4114800"/>
          </a:xfrm>
          <a:prstGeom prst="roundRect">
            <a:avLst>
              <a:gd name="adj" fmla="val 4068"/>
            </a:avLst>
          </a:prstGeom>
          <a:solidFill>
            <a:srgbClr val="1B2E45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2697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0467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MVP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1–30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8105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HydrateAI Android app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2316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24048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verification (Gemini)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1752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" y="29992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streak + AI coach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11880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" y="35935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+ RevenueCat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3200400" y="777240"/>
            <a:ext cx="2697480" cy="4114800"/>
          </a:xfrm>
          <a:prstGeom prst="roundRect">
            <a:avLst>
              <a:gd name="adj" fmla="val 4068"/>
            </a:avLst>
          </a:prstGeom>
          <a:solidFill>
            <a:srgbClr val="1B2E45"/>
          </a:solidFill>
          <a:ln w="25400">
            <a:solidFill>
              <a:srgbClr val="F7C94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3200400" y="777240"/>
            <a:ext cx="2697480" cy="502920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3291840" y="80467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Scale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3337560" y="1371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2–3</a:t>
            </a:r>
            <a:endParaRPr lang="en-US" sz="12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182880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703320" y="18105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WhatsApp check-ins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2423160"/>
            <a:ext cx="228600" cy="2286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703320" y="24048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support</a:t>
            </a:r>
            <a:endParaRPr lang="en-US" sz="12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017520"/>
            <a:ext cx="228600" cy="2286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703320" y="29992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launch</a:t>
            </a:r>
            <a:endParaRPr lang="en-US" sz="12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3611880"/>
            <a:ext cx="228600" cy="2286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703320" y="35935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ADHD analytics</a:t>
            </a:r>
            <a:endParaRPr lang="en-US" sz="1200" dirty="0"/>
          </a:p>
        </p:txBody>
      </p:sp>
      <p:sp>
        <p:nvSpPr>
          <p:cNvPr id="28" name="Shape 18"/>
          <p:cNvSpPr/>
          <p:nvPr/>
        </p:nvSpPr>
        <p:spPr>
          <a:xfrm>
            <a:off x="6080760" y="777240"/>
            <a:ext cx="2697480" cy="4114800"/>
          </a:xfrm>
          <a:prstGeom prst="roundRect">
            <a:avLst>
              <a:gd name="adj" fmla="val 4068"/>
            </a:avLst>
          </a:prstGeom>
          <a:solidFill>
            <a:srgbClr val="1B2E45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6080760" y="777240"/>
            <a:ext cx="2697480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6172200" y="80467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Platform</a:t>
            </a:r>
            <a:endParaRPr lang="en-US" sz="1400" dirty="0"/>
          </a:p>
        </p:txBody>
      </p:sp>
      <p:sp>
        <p:nvSpPr>
          <p:cNvPr id="31" name="Text 21"/>
          <p:cNvSpPr/>
          <p:nvPr/>
        </p:nvSpPr>
        <p:spPr>
          <a:xfrm>
            <a:off x="6217920" y="1371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4+</a:t>
            </a:r>
            <a:endParaRPr lang="en-US" sz="12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3640" y="1828800"/>
            <a:ext cx="228600" cy="22860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6583680" y="18105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Rebrand → HabitPilot</a:t>
            </a:r>
            <a:endParaRPr lang="en-US" sz="12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3640" y="2423160"/>
            <a:ext cx="228600" cy="22860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6583680" y="24048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sleep, meds, exercise</a:t>
            </a:r>
            <a:endParaRPr lang="en-US" sz="120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3640" y="3017520"/>
            <a:ext cx="228600" cy="22860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6583680" y="29992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Multi-habit AI agent</a:t>
            </a:r>
            <a:endParaRPr lang="en-US" sz="12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3640" y="3611880"/>
            <a:ext cx="228600" cy="228600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6583680" y="35935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/ corporate wellness</a:t>
            </a:r>
            <a:endParaRPr lang="en-US" sz="1200" dirty="0"/>
          </a:p>
        </p:txBody>
      </p:sp>
      <p:sp>
        <p:nvSpPr>
          <p:cNvPr id="40" name="Shape 26"/>
          <p:cNvSpPr/>
          <p:nvPr/>
        </p:nvSpPr>
        <p:spPr>
          <a:xfrm>
            <a:off x="2971800" y="2834640"/>
            <a:ext cx="228600" cy="0"/>
          </a:xfrm>
          <a:prstGeom prst="line">
            <a:avLst/>
          </a:prstGeom>
          <a:noFill/>
          <a:ln w="25400">
            <a:solidFill>
              <a:srgbClr val="8FA9BE"/>
            </a:solidFill>
            <a:prstDash val="solid"/>
          </a:ln>
        </p:spPr>
      </p:sp>
      <p:sp>
        <p:nvSpPr>
          <p:cNvPr id="41" name="Shape 27"/>
          <p:cNvSpPr/>
          <p:nvPr/>
        </p:nvSpPr>
        <p:spPr>
          <a:xfrm>
            <a:off x="5852160" y="2834640"/>
            <a:ext cx="228600" cy="0"/>
          </a:xfrm>
          <a:prstGeom prst="line">
            <a:avLst/>
          </a:prstGeom>
          <a:noFill/>
          <a:ln w="25400">
            <a:solidFill>
              <a:srgbClr val="8FA9BE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FA9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water reminder app.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7315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that helps people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consistently do the things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know they should.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200400" y="3246120"/>
            <a:ext cx="2743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429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is a subscription business.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HydrateAI   →   HabitPilot   →   AccountabilityAI Platform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HydrateAI – Business Overview</dc:title>
  <dc:subject>PptxGenJS Presentation</dc:subject>
  <dc:creator>PptxGenJS</dc:creator>
  <cp:lastModifiedBy>PptxGenJS</cp:lastModifiedBy>
  <cp:revision>1</cp:revision>
  <dcterms:created xsi:type="dcterms:W3CDTF">2026-06-09T03:02:36Z</dcterms:created>
  <dcterms:modified xsi:type="dcterms:W3CDTF">2026-06-09T03:02:36Z</dcterms:modified>
</cp:coreProperties>
</file>